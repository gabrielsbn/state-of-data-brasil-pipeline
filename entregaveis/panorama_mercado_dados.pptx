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2023-2024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Analista de
Dados</c:v>
                  </c:pt>
                  <c:pt idx="1">
                    <c:v>Engenheiro/
Arquiteto de Dados</c:v>
                  </c:pt>
                  <c:pt idx="2">
                    <c:v>Cientista de
Dados</c:v>
                  </c:pt>
                  <c:pt idx="3">
                    <c:v>Analista
de BI</c:v>
                  </c:pt>
                  <c:pt idx="4">
                    <c:v>Analytics
Engineer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23.5</c:v>
                </c:pt>
                <c:pt idx="1">
                  <c:v>17.7</c:v>
                </c:pt>
                <c:pt idx="2">
                  <c:v>17.8</c:v>
                </c:pt>
                <c:pt idx="3">
                  <c:v>13.1</c:v>
                </c:pt>
                <c:pt idx="4">
                  <c:v>3.6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2024-2025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Analista de
Dados</c:v>
                  </c:pt>
                  <c:pt idx="1">
                    <c:v>Engenheiro/
Arquiteto de Dados</c:v>
                  </c:pt>
                  <c:pt idx="2">
                    <c:v>Cientista de
Dados</c:v>
                  </c:pt>
                  <c:pt idx="3">
                    <c:v>Analista
de BI</c:v>
                  </c:pt>
                  <c:pt idx="4">
                    <c:v>Analytics
Engineer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25.1</c:v>
                </c:pt>
                <c:pt idx="1">
                  <c:v>17.3</c:v>
                </c:pt>
                <c:pt idx="2">
                  <c:v>18</c:v>
                </c:pt>
                <c:pt idx="3">
                  <c:v>10.4</c:v>
                </c:pt>
                <c:pt idx="4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2025-2026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Analista de
Dados</c:v>
                  </c:pt>
                  <c:pt idx="1">
                    <c:v>Engenheiro/
Arquiteto de Dados</c:v>
                  </c:pt>
                  <c:pt idx="2">
                    <c:v>Cientista de
Dados</c:v>
                  </c:pt>
                  <c:pt idx="3">
                    <c:v>Analista
de BI</c:v>
                  </c:pt>
                  <c:pt idx="4">
                    <c:v>Analytics
Engineer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24</c:v>
                </c:pt>
                <c:pt idx="1">
                  <c:v>17.2</c:v>
                </c:pt>
                <c:pt idx="2">
                  <c:v>17</c:v>
                </c:pt>
                <c:pt idx="3">
                  <c:v>8.6</c:v>
                </c:pt>
                <c:pt idx="4">
                  <c:v>5.4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Júnior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2023-2024</c:v>
                  </c:pt>
                  <c:pt idx="1">
                    <c:v>2024-2025</c:v>
                  </c:pt>
                  <c:pt idx="2">
                    <c:v>2025-2026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27.1</c:v>
                </c:pt>
                <c:pt idx="1">
                  <c:v>22.7</c:v>
                </c:pt>
                <c:pt idx="2">
                  <c:v>20.7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Pleno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2023-2024</c:v>
                  </c:pt>
                  <c:pt idx="1">
                    <c:v>2024-2025</c:v>
                  </c:pt>
                  <c:pt idx="2">
                    <c:v>2025-2026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36.1</c:v>
                </c:pt>
                <c:pt idx="1">
                  <c:v>36.1</c:v>
                </c:pt>
                <c:pt idx="2">
                  <c:v>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Sênior/Especialista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2023-2024</c:v>
                  </c:pt>
                  <c:pt idx="1">
                    <c:v>2024-2025</c:v>
                  </c:pt>
                  <c:pt idx="2">
                    <c:v>2025-2026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36.8</c:v>
                </c:pt>
                <c:pt idx="1">
                  <c:v>41.2</c:v>
                </c:pt>
                <c:pt idx="2">
                  <c:v>48.3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100% remoto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2023-2024</c:v>
                  </c:pt>
                  <c:pt idx="1">
                    <c:v>2024-2025</c:v>
                  </c:pt>
                  <c:pt idx="2">
                    <c:v>2025-2026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46.3</c:v>
                </c:pt>
                <c:pt idx="1">
                  <c:v>45.7</c:v>
                </c:pt>
                <c:pt idx="2">
                  <c:v>39.7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100% presencial</c:v>
                </c:pt>
              </c:strCache>
            </c:strRef>
          </c:tx>
          <c:spPr>
            <a:solidFill>
              <a:srgbClr val="F2A900"/>
            </a:solidFill>
            <a:ln w="38100" cap="flat">
              <a:solidFill>
                <a:srgbClr val="F2A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2A900"/>
              </a:solidFill>
              <a:ln w="9525" cap="flat">
                <a:solidFill>
                  <a:srgbClr val="F2A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2023-2024</c:v>
                  </c:pt>
                  <c:pt idx="1">
                    <c:v>2024-2025</c:v>
                  </c:pt>
                  <c:pt idx="2">
                    <c:v>2025-2026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16.6</c:v>
                </c:pt>
                <c:pt idx="1">
                  <c:v>16.3</c:v>
                </c:pt>
                <c:pt idx="2">
                  <c:v>20.8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Híbrido (dias fixos)</c:v>
                </c:pt>
              </c:strCache>
            </c:strRef>
          </c:tx>
          <c:spPr>
            <a:solidFill>
              <a:srgbClr val="CADCFC"/>
            </a:solidFill>
            <a:ln w="381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2023-2024</c:v>
                  </c:pt>
                  <c:pt idx="1">
                    <c:v>2024-2025</c:v>
                  </c:pt>
                  <c:pt idx="2">
                    <c:v>2025-2026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16.6</c:v>
                </c:pt>
                <c:pt idx="1">
                  <c:v>17.5</c:v>
                </c:pt>
                <c:pt idx="2">
                  <c:v>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Salário médio (R$)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Analista Dados
(Sênior)</c:v>
                  </c:pt>
                  <c:pt idx="1">
                    <c:v>Cientista Dados
(Sênior)</c:v>
                  </c:pt>
                  <c:pt idx="2">
                    <c:v>Eng. Dados
(Sênior)</c:v>
                  </c:pt>
                  <c:pt idx="3">
                    <c:v>ML Engineer
(Sênior)</c:v>
                  </c:pt>
                  <c:pt idx="4">
                    <c:v>Cientista Dados
(Especialista)</c:v>
                  </c:pt>
                  <c:pt idx="5">
                    <c:v>Eng. Dados
(Especialista)</c:v>
                  </c:pt>
                  <c:pt idx="6">
                    <c:v>ML Engineer
(Especialista)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12179</c:v>
                </c:pt>
                <c:pt idx="1">
                  <c:v>15724</c:v>
                </c:pt>
                <c:pt idx="2">
                  <c:v>16753</c:v>
                </c:pt>
                <c:pt idx="3">
                  <c:v>22583</c:v>
                </c:pt>
                <c:pt idx="4">
                  <c:v>19847</c:v>
                </c:pt>
                <c:pt idx="5">
                  <c:v>22893</c:v>
                </c:pt>
                <c:pt idx="6">
                  <c:v>28759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Feminino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2023-2024</c:v>
                  </c:pt>
                  <c:pt idx="1">
                    <c:v>2024-2025</c:v>
                  </c:pt>
                  <c:pt idx="2">
                    <c:v>2025-2026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24.4</c:v>
                </c:pt>
                <c:pt idx="1">
                  <c:v>23.5</c:v>
                </c:pt>
                <c:pt idx="2">
                  <c:v>22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que reporta prejuízo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Identidade de gênero</c:v>
                  </c:pt>
                  <c:pt idx="1">
                    <c:v>Cor/raça/etnia</c:v>
                  </c:pt>
                  <c:pt idx="2">
                    <c:v>Condição de PCD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15.4</c:v>
                </c:pt>
                <c:pt idx="1">
                  <c:v>11</c:v>
                </c:pt>
                <c:pt idx="2">
                  <c:v>1.7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adoção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SQL</c:v>
                  </c:pt>
                  <c:pt idx="1">
                    <c:v>Python</c:v>
                  </c:pt>
                  <c:pt idx="2">
                    <c:v>R</c:v>
                  </c:pt>
                  <c:pt idx="3">
                    <c:v>Java</c:v>
                  </c:pt>
                  <c:pt idx="4">
                    <c:v>JavaScript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60.3</c:v>
                </c:pt>
                <c:pt idx="1">
                  <c:v>56.3</c:v>
                </c:pt>
                <c:pt idx="2">
                  <c:v>6.7</c:v>
                </c:pt>
                <c:pt idx="3">
                  <c:v>5.6</c:v>
                </c:pt>
                <c:pt idx="4">
                  <c:v>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adoção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AWS</c:v>
                  </c:pt>
                  <c:pt idx="1">
                    <c:v>Azure</c:v>
                  </c:pt>
                  <c:pt idx="2">
                    <c:v>GCP</c:v>
                  </c:pt>
                  <c:pt idx="3">
                    <c:v>On-Premise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20.9</c:v>
                </c:pt>
                <c:pt idx="2">
                  <c:v>18.5</c:v>
                </c:pt>
                <c:pt idx="3">
                  <c:v>8.6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adoção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PostgreSQL</c:v>
                  </c:pt>
                  <c:pt idx="1">
                    <c:v>SQL Server</c:v>
                  </c:pt>
                  <c:pt idx="2">
                    <c:v>Databricks</c:v>
                  </c:pt>
                  <c:pt idx="3">
                    <c:v>S3</c:v>
                  </c:pt>
                  <c:pt idx="4">
                    <c:v>MySQL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22.1</c:v>
                </c:pt>
                <c:pt idx="1">
                  <c:v>20.1</c:v>
                </c:pt>
                <c:pt idx="2">
                  <c:v>19.7</c:v>
                </c:pt>
                <c:pt idx="3">
                  <c:v>17.3</c:v>
                </c:pt>
                <c:pt idx="4">
                  <c:v>17.1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adoção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Não utiliza BI</c:v>
                  </c:pt>
                  <c:pt idx="1">
                    <c:v>Tableau</c:v>
                  </c:pt>
                  <c:pt idx="2">
                    <c:v>Looker Studio</c:v>
                  </c:pt>
                  <c:pt idx="3">
                    <c:v>Looker</c:v>
                  </c:pt>
                  <c:pt idx="4">
                    <c:v>Microsoft PowerBI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6.9</c:v>
                </c:pt>
                <c:pt idx="1">
                  <c:v>8.2</c:v>
                </c:pt>
                <c:pt idx="2">
                  <c:v>9.4</c:v>
                </c:pt>
                <c:pt idx="3">
                  <c:v>13.6</c:v>
                </c:pt>
                <c:pt idx="4">
                  <c:v>35.6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que reporta IA como prioridade</c:v>
                </c:pt>
              </c:strCache>
            </c:strRef>
          </c:tx>
          <c:spPr>
            <a:solidFill>
              <a:srgbClr val="F2A900"/>
            </a:solidFill>
            <a:ln w="50800" cap="flat">
              <a:solidFill>
                <a:srgbClr val="F2A900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F2A900"/>
              </a:solidFill>
              <a:ln w="9525" cap="flat">
                <a:solidFill>
                  <a:srgbClr val="F2A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2023-2024</c:v>
                  </c:pt>
                  <c:pt idx="1">
                    <c:v>2024-2025</c:v>
                  </c:pt>
                  <c:pt idx="2">
                    <c:v>2025-2026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36.2</c:v>
                </c:pt>
                <c:pt idx="1">
                  <c:v>53.6</c:v>
                </c:pt>
                <c:pt idx="2">
                  <c:v>60.6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que cita o motivo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Falta de expertise/
recursos</c:v>
                  </c:pt>
                  <c:pt idx="1">
                    <c:v>Dados não
prontos p/ IA</c:v>
                  </c:pt>
                  <c:pt idx="2">
                    <c:v>Falta de compreensão
dos casos de uso</c:v>
                  </c:pt>
                  <c:pt idx="3">
                    <c:v>ROI não
comprovado</c:v>
                  </c:pt>
                  <c:pt idx="4">
                    <c:v>Alta direção não
vê valor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38.8</c:v>
                </c:pt>
                <c:pt idx="1">
                  <c:v>36.8</c:v>
                </c:pt>
                <c:pt idx="2">
                  <c:v>32</c:v>
                </c:pt>
                <c:pt idx="3">
                  <c:v>28.4</c:v>
                </c:pt>
                <c:pt idx="4">
                  <c:v>7.5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concentração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Sudeste</c:v>
                  </c:pt>
                  <c:pt idx="1">
                    <c:v>Sul</c:v>
                  </c:pt>
                  <c:pt idx="2">
                    <c:v>Nordeste</c:v>
                  </c:pt>
                  <c:pt idx="3">
                    <c:v>Centro-Oeste</c:v>
                  </c:pt>
                  <c:pt idx="4">
                    <c:v>Norte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62.3</c:v>
                </c:pt>
                <c:pt idx="1">
                  <c:v>18.6</c:v>
                </c:pt>
                <c:pt idx="2">
                  <c:v>11</c:v>
                </c:pt>
                <c:pt idx="3">
                  <c:v>6.7</c:v>
                </c:pt>
                <c:pt idx="4">
                  <c:v>1.4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R$/mês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Sudeste</c:v>
                  </c:pt>
                  <c:pt idx="1">
                    <c:v>Centro-Oeste</c:v>
                  </c:pt>
                  <c:pt idx="2">
                    <c:v>Sul</c:v>
                  </c:pt>
                  <c:pt idx="3">
                    <c:v>Norte</c:v>
                  </c:pt>
                  <c:pt idx="4">
                    <c:v>Nordeste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12291</c:v>
                </c:pt>
                <c:pt idx="1">
                  <c:v>10938</c:v>
                </c:pt>
                <c:pt idx="2">
                  <c:v>10493</c:v>
                </c:pt>
                <c:pt idx="3">
                  <c:v>9247</c:v>
                </c:pt>
                <c:pt idx="4">
                  <c:v>9237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DO MERCADO DE DADOS NO BRASIL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520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leitura executiva da pesquisa State of Data Brasil (2023–2026)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apoio à decisão de investimento em Dados, Analytics e 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526280"/>
            <a:ext cx="2011680" cy="0"/>
          </a:xfrm>
          <a:prstGeom prst="line">
            <a:avLst/>
          </a:prstGeom>
          <a:noFill/>
          <a:ln w="381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Estratégica em Dados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Metodologia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pesquisa State of Data Brasil (Data Hackers + Bain), 3 edições consecutivas — 2023-2024, 2024-2025 e 2025-2026, totalizando 14.005 respondentes.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Ingestão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Data Lake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(camada Bronze)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34640" y="2468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3464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Catalogação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30175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Crawlers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 Catalog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2468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0175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Glue/Spark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harmonização de schema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23760" y="2468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Curadoria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0175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Silver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432 colunas · tipadas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2880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00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18320" y="24688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30175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Gold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Athena SQL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completa em AWS (S3 · Glue · Athena) — diagrama detalhado em anexo.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060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4937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 apresentação responde: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mercado  ·  Perfis mais valorizados  ·  Diversidade  ·  Tecnologias em adoção  ·  Adoção de IA  ·  Diferenças regionais e de modelo de trabalho  ·  Oportunidades de investimento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da Solução (detalhada)</a:t>
            </a:r>
            <a:endParaRPr lang="en-US" sz="3000" dirty="0"/>
          </a:p>
        </p:txBody>
      </p:sp>
      <p:pic>
        <p:nvPicPr>
          <p:cNvPr id="3" name="Image 0" descr="/home/claude/arquite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748" y="1188720"/>
            <a:ext cx="9363456" cy="5212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 · ESTRUTURA DO MERCADO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Analista de Dados segue como porta de entrada do mercado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10881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de profissionais por cargo (top 5), 2023–2026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 · ESTRUTURA DO MERCADO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mercado está amadurecendo: quase metade já é sênior+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6304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210312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EEF3F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2286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48,3%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32004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profissionais já são Sênior ou Especialista/Staff+ em 2025-2026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(+11,5 p.p. desde 2023-2024)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 · ESTRUTURA DO MERCADO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Sinal de retorno ao escritório: o 100% remoto perde espaço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63040"/>
          <a:ext cx="108813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5257800"/>
          <a:ext cx="88696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011680"/>
                <a:gridCol w="2011680"/>
                <a:gridCol w="201168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remoto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presencial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Híbrido (dias fixos)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2 · PERFIS MAIS VALORIZADOS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Engenharia de ML e Arquitetura de Dados lideram remuneração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médio estimado (R$/mês) — Especialista/Staff+ e Sênior, 2025-2026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03120"/>
          <a:ext cx="10881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metodológica sobre remuneração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EEF3F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salário foi estimado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2523744"/>
            <a:ext cx="109728" cy="1097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3774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coleta remuneração como faixa (ex: "de R$ 8.001 a R$ 12.000/mês"), não como valor exato.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05840" y="3300984"/>
            <a:ext cx="109728" cy="1097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31546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faixa foi convertida ao seu ponto médio para permitir cálculo de média — ex.: a faixa acima vira R$ 10.000.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4078224"/>
            <a:ext cx="109728" cy="1097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39319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faixas abertas ("menos de R$ 1.000" e "acima de R$ 40.001") usam estimativas por espaçamento consistente com as faixas vizinhas.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05840" y="4855464"/>
            <a:ext cx="109728" cy="1097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47091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os valores são adequados para comparação de tendência entre grupos — não representam o salário exato de nenhum indivíduo.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3 · DIVERSIDADE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participação feminina recua de forma consistente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feminina no mercado de dados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040880" y="1737360"/>
            <a:ext cx="448056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040880" y="19659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77,5% / 22,0%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2788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proporção masculino/feminino em 2025-2026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40880" y="3931920"/>
            <a:ext cx="4480560" cy="2103120"/>
          </a:xfrm>
          <a:prstGeom prst="roundRect">
            <a:avLst>
              <a:gd name="adj" fmla="val 3478"/>
            </a:avLst>
          </a:prstGeom>
          <a:solidFill>
            <a:srgbClr val="EEF3F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040880" y="41148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-2,4 p.p.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4892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queda na participação feminina entre 2023-2024 e 2025-2026 — tendência a monitorar em políticas de D&amp;I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3 · DIVERSIDADE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Gênero é o fator mais citado de prejuízo profissional percebido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57400"/>
          <a:ext cx="10881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1783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das 3 edições (2023–2026) · percentual de respondentes que relatam prejuízo na carreira pelo fator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4 · TECNOLOGIAS EM ADOÇÃO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e Python seguem como base técnica quase universal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108813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2024-2025 (última edição com esta pergunta ativa)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4 · TECNOLOGIAS EM ADOÇÃO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lidera em nuvem; ecossistema de bancos é diversificado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(2025-2026)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2880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Bancos de Dados (2025-2026)</a:t>
            </a:r>
            <a:endParaRPr lang="en-US" sz="15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182880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4 · TECNOLOGIAS EM ADOÇÃO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é dominante — mais que o dobro do segundo colocado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057400"/>
          <a:ext cx="10881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Adoção de IA generativa dispara entre gestores de dados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5 · ADOÇÃO DE IA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Adoção de IA generativa dispara entre gestores de dados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73736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2377440"/>
            <a:ext cx="3108960" cy="2377440"/>
          </a:xfrm>
          <a:prstGeom prst="roundRect">
            <a:avLst>
              <a:gd name="adj" fmla="val 3077"/>
            </a:avLst>
          </a:prstGeom>
          <a:solidFill>
            <a:srgbClr val="2A357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+24,4 p.p.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34290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crescimento em 3 edições — IA já não é mais uma iniciativa opcional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5 · ADOÇÃO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barreira à IA é técnica, não é falta de vontade executiva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108813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1325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empresas que ainda não adotam IA generativa, todas as edições combinadas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6 · DIFERENÇAS REGIONAIS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Sudeste concentra talento e paga o maior salário médio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Concentração de profissionais (%)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9164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371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Salário médio estimado (R$)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169164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6 · DIFERENÇAS REGIONAIS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Quase 1.700 profissionais presenciais preferem outro modelo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grupos de descompasso entre modelo atual e modelo desejado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315200" cy="320040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Atual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Desejado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Presencial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Híbrido flexível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Híbrido (dias fixos)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Híbrido flexível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Presencial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Híbrido (dias fixos)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Híbrido (dias fixos)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Remoto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Híbrido flexível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Remoto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Presencial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Remoto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92024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0" y="2194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~1.700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30175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EF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presenciais que preferiam modelo híbrido ou remoto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7 · SÍNTESE ESTRATÉGICA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Oportunidades e desafios para quem investe em Dados e 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63624"/>
            <a:ext cx="201168" cy="20116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463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maduro em Analytics, incipiente em MLOps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783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oferta de Analistas/Cientistas de Dados; perfis de Engenharia de ML e Arquitetura de Dados são escassos e mais bem remunerados — vetor de investimento em capacitação.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78024"/>
            <a:ext cx="201168" cy="20116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377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deixou de ser opcional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974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de IA generativa saltou de 36% para 61% em 3 anos. O gargalo não é vontade executiva (7,5%) — é expertise técnica e maturidade de dados (&gt;35%).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92424"/>
            <a:ext cx="201168" cy="20116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2918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como oportunidade de employer branding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6118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feminina em queda (24,4%→22,0%) é um sinal de alerta e, ao mesmo tempo, uma oportunidade de diferenciação competitiva na atração de talento.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201168" cy="20116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2062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de trabalho é vantagem competitiva de retenção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5262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~1.700 profissionais presenciais desejam outro modelo — políticas rígidas de retorno ao escritório podem custar retenção de talento sênior.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221224"/>
            <a:ext cx="201168" cy="20116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51206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regional pode reduzir custo sem abrir mão de qualidade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4406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salarial de até 33% entre Sudeste e Nordeste sugere espaço para contratação distribuída, condicionado à validação de maturidade técnica local.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2023-2026  ·  Panorama do Mercado de Dados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discussão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4206240"/>
            <a:ext cx="2011680" cy="0"/>
          </a:xfrm>
          <a:prstGeom prst="line">
            <a:avLst/>
          </a:prstGeom>
          <a:noFill/>
          <a:ln w="381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Anexos: diagrama de arquitetura da solução · notebooks e scripts · dicionário de dados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2026-09-12T15:54:33Z</dcterms:created>
  <dcterms:modified xsi:type="dcterms:W3CDTF">2026-09-12T15:54:33Z</dcterms:modified>
</cp:coreProperties>
</file>